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 Spend</c:v>
                </c:pt>
              </c:strCache>
            </c:strRef>
          </c:tx>
          <c:spPr>
            <a:solidFill>
              <a:srgbClr val="7A71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M9</c:v>
                  </c:pt>
                  <c:pt idx="7">
                    <c:v>M12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500</c:v>
                </c:pt>
                <c:pt idx="1">
                  <c:v>1000</c:v>
                </c:pt>
                <c:pt idx="2">
                  <c:v>1500</c:v>
                </c:pt>
                <c:pt idx="3">
                  <c:v>2000</c:v>
                </c:pt>
                <c:pt idx="4">
                  <c:v>2500</c:v>
                </c:pt>
                <c:pt idx="5">
                  <c:v>3000</c:v>
                </c:pt>
                <c:pt idx="6">
                  <c:v>4000</c:v>
                </c:pt>
                <c:pt idx="7">
                  <c:v>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C05A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M9</c:v>
                  </c:pt>
                  <c:pt idx="7">
                    <c:v>M12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400</c:v>
                </c:pt>
                <c:pt idx="2">
                  <c:v>1600</c:v>
                </c:pt>
                <c:pt idx="3">
                  <c:v>2500</c:v>
                </c:pt>
                <c:pt idx="4">
                  <c:v>3250</c:v>
                </c:pt>
                <c:pt idx="5">
                  <c:v>4000</c:v>
                </c:pt>
                <c:pt idx="6">
                  <c:v>7500</c:v>
                </c:pt>
                <c:pt idx="7">
                  <c:v>10000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1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DE8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71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7A716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8F6F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1200" kern="0" dirty="0">
                <a:solidFill>
                  <a:srgbClr val="C05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VENUE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Miami's Private Event Marketplace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  |  March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 Chimion  &amp;  Frank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Planning a private event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Miami is broken.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365760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286000"/>
            <a:ext cx="54864" cy="1143000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23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Peerspace (Market Leader)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2.6/5 stars. Terrible support.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venues 20% + guests 18%.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2286000"/>
            <a:ext cx="365760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2286000"/>
            <a:ext cx="54864" cy="1143000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2423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Giggster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2743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Film/photo focused, not events.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 commission.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611880"/>
            <a:ext cx="365760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611880"/>
            <a:ext cx="54864" cy="1143000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749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Planners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4069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$2,000–$10,000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to find a space.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611880"/>
            <a:ext cx="365760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3611880"/>
            <a:ext cx="54864" cy="1143000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3749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/ Yelp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4069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research. No filters for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type, budget, or guest count.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(VERIFIED DATA)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 is the #3 event market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North America.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1920240" cy="1645920"/>
          </a:xfrm>
          <a:prstGeom prst="rect">
            <a:avLst/>
          </a:prstGeom>
          <a:solidFill>
            <a:srgbClr val="F8F6F2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2423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Visitors/year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(2024 record)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06040" y="2286000"/>
            <a:ext cx="1920240" cy="1645920"/>
          </a:xfrm>
          <a:prstGeom prst="rect">
            <a:avLst/>
          </a:prstGeom>
          <a:solidFill>
            <a:srgbClr val="F8F6F2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06040" y="2423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$22B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spending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into Miami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2286000"/>
            <a:ext cx="1920240" cy="1645920"/>
          </a:xfrm>
          <a:prstGeom prst="rect">
            <a:avLst/>
          </a:prstGeom>
          <a:solidFill>
            <a:srgbClr val="F8F6F2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2423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$40-80K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54880" y="31089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Miami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 budget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03720" y="2286000"/>
            <a:ext cx="1920240" cy="1645920"/>
          </a:xfrm>
          <a:prstGeom prst="rect">
            <a:avLst/>
          </a:prstGeom>
          <a:solidFill>
            <a:srgbClr val="F8F6F2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2423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1,000+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03720" y="31089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venues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Miami-Dade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Miami-Dade Tourism Office, Grand View Research, Elev8, Wedding Report, The Knot, SerpWars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leader is hated. The rest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niche or absent from Miami.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103120"/>
          <a:ext cx="7680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645920"/>
                <a:gridCol w="25603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A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A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Miami Inventory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A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A3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Peerspace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+ 12-18%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200-400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2.6/5 rating, bad support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Giggster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Film-focused, not events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15,000+ 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Generic, no local curation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 Miami presence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05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 (us)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05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05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(curated)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05A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no brand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commission is the lowest in the market. Venues save 5-10% switching from Peerspace.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lead generation machine.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920240" cy="2194560"/>
          </a:xfrm>
          <a:prstGeom prst="rect">
            <a:avLst/>
          </a:prstGeom>
          <a:solidFill>
            <a:srgbClr val="2D2926"/>
          </a:solidFill>
          <a:ln w="12700">
            <a:solidFill>
              <a:srgbClr val="4A44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05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Drive Traffic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+ Instagram ads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Miami event planners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377440" y="25603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06040" y="1828800"/>
            <a:ext cx="1920240" cy="2194560"/>
          </a:xfrm>
          <a:prstGeom prst="rect">
            <a:avLst/>
          </a:prstGeom>
          <a:solidFill>
            <a:srgbClr val="2D2926"/>
          </a:solidFill>
          <a:ln w="12700">
            <a:solidFill>
              <a:srgbClr val="4A4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06040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05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606040" y="24688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Captures Lead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06040" y="29260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picks event type,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guests, budget, vibe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26280" y="25603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754880" y="1828800"/>
            <a:ext cx="1920240" cy="2194560"/>
          </a:xfrm>
          <a:prstGeom prst="rect">
            <a:avLst/>
          </a:prstGeom>
          <a:solidFill>
            <a:srgbClr val="2D2926"/>
          </a:solidFill>
          <a:ln w="12700">
            <a:solidFill>
              <a:srgbClr val="4A44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05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754880" y="24688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Match Venues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29260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Miami spaces with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and amenities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75120" y="256032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903720" y="1828800"/>
            <a:ext cx="1920240" cy="2194560"/>
          </a:xfrm>
          <a:prstGeom prst="rect">
            <a:avLst/>
          </a:prstGeom>
          <a:solidFill>
            <a:srgbClr val="2D2926"/>
          </a:solidFill>
          <a:ln w="12700">
            <a:solidFill>
              <a:srgbClr val="4A44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05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903720" y="24688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Pays 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03720" y="29260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10-15% commission 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$99/mo placement fee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consumers. Always. Venues pay because we send them qualified leads.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 (INDUSTRY BENCHMARKS)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numbers from real companies.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guesses.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029200" cy="420624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116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CPC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51760" y="20116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$0.77–$1.60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23360" y="20116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WordStream, SerpWars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2523744"/>
            <a:ext cx="502920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5237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lead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2523744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$3.71–$30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23360" y="252374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Snowmad Digital, PPCChief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31520" y="3035808"/>
            <a:ext cx="5029200" cy="420624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35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→ booking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51760" y="303580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10–25%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23360" y="303580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Models Lab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" y="3547872"/>
            <a:ext cx="502920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5478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Miami event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51760" y="3547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$3,000–$5,000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23360" y="354787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Peerspace, Elev8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" y="4059936"/>
            <a:ext cx="5029200" cy="420624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05993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commission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51760" y="405993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23360" y="405993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10-20%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26480" y="2011680"/>
            <a:ext cx="2560320" cy="2560320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2148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Booking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2560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$360–$600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6126480" y="3200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to us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92240" y="3611880"/>
            <a:ext cx="18288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3749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$24–$330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acquire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Break-even by month 3–4.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45920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645920"/>
            <a:ext cx="29260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760720" y="1737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943600" y="2057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spend: $22K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$25K</a:t>
            </a:r>
            <a:endParaRPr lang="en-US" sz="10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12: $5K/mo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60720" y="3200400"/>
            <a:ext cx="29260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943600" y="36118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spend: $35K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$55K</a:t>
            </a:r>
            <a:endParaRPr lang="en-US" sz="10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12: $15K/mo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65960" cy="3840480"/>
          </a:xfrm>
          <a:prstGeom prst="rect">
            <a:avLst/>
          </a:prstGeom>
          <a:solidFill>
            <a:srgbClr val="F8F6F2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143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1–4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417320" cy="320040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$0/mo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7889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budget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2926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$500–$1K/mo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337560"/>
            <a:ext cx="1417320" cy="0"/>
          </a:xfrm>
          <a:prstGeom prst="line">
            <a:avLst/>
          </a:prstGeom>
          <a:noFill/>
          <a:ln w="12700">
            <a:solidFill>
              <a:srgbClr val="EDE8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47472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10-20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requests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06040" y="1005840"/>
            <a:ext cx="1965960" cy="3840480"/>
          </a:xfrm>
          <a:prstGeom prst="rect">
            <a:avLst/>
          </a:prstGeom>
          <a:solidFill>
            <a:srgbClr val="F8F6F2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606040" y="1143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606040" y="137160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2–3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43200" y="1737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880360" y="2286000"/>
            <a:ext cx="1417320" cy="320040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18" name="Text 16"/>
          <p:cNvSpPr/>
          <p:nvPr/>
        </p:nvSpPr>
        <p:spPr>
          <a:xfrm>
            <a:off x="288036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$500–$2K/mo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27889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budget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2926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$1K–$2K/mo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80360" y="3337560"/>
            <a:ext cx="1417320" cy="0"/>
          </a:xfrm>
          <a:prstGeom prst="line">
            <a:avLst/>
          </a:prstGeom>
          <a:noFill/>
          <a:ln w="12700">
            <a:solidFill>
              <a:srgbClr val="EDE8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0" y="347472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partners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1965960" cy="3840480"/>
          </a:xfrm>
          <a:prstGeom prst="rect">
            <a:avLst/>
          </a:prstGeom>
          <a:solidFill>
            <a:srgbClr val="F8F6F2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54880" y="1143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137160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3–6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92040" y="1737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029200" y="2286000"/>
            <a:ext cx="1417320" cy="320040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$2K–$5K/mo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27889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budget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92040" y="2926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$2K–$5K/mo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0" y="3337560"/>
            <a:ext cx="1417320" cy="0"/>
          </a:xfrm>
          <a:prstGeom prst="line">
            <a:avLst/>
          </a:prstGeom>
          <a:noFill/>
          <a:ln w="12700">
            <a:solidFill>
              <a:srgbClr val="EDE8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47472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partners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03720" y="1005840"/>
            <a:ext cx="1965960" cy="3840480"/>
          </a:xfrm>
          <a:prstGeom prst="rect">
            <a:avLst/>
          </a:prstGeom>
          <a:solidFill>
            <a:srgbClr val="F8F6F2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03720" y="1143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03720" y="137160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6–12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40880" y="1737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Dominate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78040" y="2286000"/>
            <a:ext cx="1417320" cy="320040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38" name="Text 36"/>
          <p:cNvSpPr/>
          <p:nvPr/>
        </p:nvSpPr>
        <p:spPr>
          <a:xfrm>
            <a:off x="717804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$5K–$15K/mo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040880" y="278892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budget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040880" y="2926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$3K–$8K/mo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178040" y="3337560"/>
            <a:ext cx="1417320" cy="0"/>
          </a:xfrm>
          <a:prstGeom prst="line">
            <a:avLst/>
          </a:prstGeom>
          <a:noFill/>
          <a:ln w="12700">
            <a:solidFill>
              <a:srgbClr val="EDE8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40880" y="347472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venues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multi-revenue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build it and run it.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fund the growth.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365760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11680"/>
            <a:ext cx="3657600" cy="54864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 — Operator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entire product from scratch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development + maintenance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campaigns: create + optimize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outreach + relationships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handling + concierge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performance reports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2011680"/>
            <a:ext cx="365760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2011680"/>
            <a:ext cx="3657600" cy="54864"/>
          </a:xfrm>
          <a:prstGeom prst="rect">
            <a:avLst/>
          </a:prstGeom>
          <a:solidFill>
            <a:srgbClr val="8BA89A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— Investor + Advisor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idea + market insight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all ad spend (scales w/ results)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operational costs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PwC credibility for partnerships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Investor-facing role if we raise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hours/month, no manual work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 first. Formalize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there’s money to split.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7680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6517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A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(ads + ops)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A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5A3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$3,070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4–6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$2–$3K/mo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$9K–$12K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7–12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$3–$5K/mo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29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$27K–$42K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DE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" y="3886200"/>
            <a:ext cx="7680960" cy="54864"/>
          </a:xfrm>
          <a:prstGeom prst="rect">
            <a:avLst/>
          </a:prstGeom>
          <a:solidFill>
            <a:srgbClr val="EDE8E0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40233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principle: </a:t>
            </a:r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partners. Georg builds and runs it. Frank funds the growth. We split profits fair. We formalize equity when we hit $1,000/month — by then we’ll both know what each person contributed. If it doesn’t work after 3 months, we walk away. Max loss = ~$3,000.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downside. Capped risk.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10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don’t convert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8105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 max loss in month 1. Test 3-4 campaigns, kill losers fast.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51460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58775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Venues don’t pay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25877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value with free leads. Hard to say no after 10 free bookings.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29184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364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enters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336499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First-mover + local touch. Our 10-15% beats Peerspace’s 20%.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06908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142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concerns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41422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info only. Remove any venue immediately on request.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05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things to decide together.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411480" cy="411480"/>
          </a:xfrm>
          <a:prstGeom prst="ellipse">
            <a:avLst/>
          </a:prstGeom>
          <a:solidFill>
            <a:srgbClr val="C05A3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7373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name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1737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production URL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411480" cy="411480"/>
          </a:xfrm>
          <a:prstGeom prst="ellipse">
            <a:avLst/>
          </a:prstGeom>
          <a:solidFill>
            <a:srgbClr val="C05A3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377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 budget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0480" y="2377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$500–$1,000 to test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63240"/>
            <a:ext cx="411480" cy="411480"/>
          </a:xfrm>
          <a:prstGeom prst="ellipse">
            <a:avLst/>
          </a:prstGeom>
          <a:solidFill>
            <a:srgbClr val="C05A3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017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terms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30175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it, fund it, split it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703320"/>
            <a:ext cx="411480" cy="411480"/>
          </a:xfrm>
          <a:prstGeom prst="ellipse">
            <a:avLst/>
          </a:prstGeom>
          <a:solidFill>
            <a:srgbClr val="C05A3B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36576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accounts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36576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Google + Instagram Ads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343400"/>
            <a:ext cx="411480" cy="411480"/>
          </a:xfrm>
          <a:prstGeom prst="ellipse">
            <a:avLst/>
          </a:prstGeom>
          <a:solidFill>
            <a:srgbClr val="C05A3B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4297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date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40480" y="42976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week to go live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05A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product is built.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machine is ready.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C05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just need to turn it on.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 |  Georg &amp; Frank  | 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VENUE — Business Plan</dc:title>
  <dc:subject>PptxGenJS Presentation</dc:subject>
  <dc:creator>Georg Chimion</dc:creator>
  <cp:lastModifiedBy>Georg Chimion</cp:lastModifiedBy>
  <cp:revision>1</cp:revision>
  <dcterms:created xsi:type="dcterms:W3CDTF">2026-03-18T13:30:11Z</dcterms:created>
  <dcterms:modified xsi:type="dcterms:W3CDTF">2026-03-18T13:30:11Z</dcterms:modified>
</cp:coreProperties>
</file>