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7A75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500</c:v>
                </c:pt>
                <c:pt idx="1">
                  <c:v>1000</c:v>
                </c:pt>
                <c:pt idx="2">
                  <c:v>1500</c:v>
                </c:pt>
                <c:pt idx="3">
                  <c:v>2000</c:v>
                </c:pt>
                <c:pt idx="4">
                  <c:v>2500</c:v>
                </c:pt>
                <c:pt idx="5">
                  <c:v>3000</c:v>
                </c:pt>
                <c:pt idx="6">
                  <c:v>3500</c:v>
                </c:pt>
                <c:pt idx="7">
                  <c:v>4000</c:v>
                </c:pt>
                <c:pt idx="8">
                  <c:v>4000</c:v>
                </c:pt>
                <c:pt idx="9">
                  <c:v>4500</c:v>
                </c:pt>
                <c:pt idx="10">
                  <c:v>5000</c:v>
                </c:pt>
                <c:pt idx="11">
                  <c:v>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A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400</c:v>
                </c:pt>
                <c:pt idx="2">
                  <c:v>1600</c:v>
                </c:pt>
                <c:pt idx="3">
                  <c:v>2500</c:v>
                </c:pt>
                <c:pt idx="4">
                  <c:v>3250</c:v>
                </c:pt>
                <c:pt idx="5">
                  <c:v>4000</c:v>
                </c:pt>
                <c:pt idx="6">
                  <c:v>4500</c:v>
                </c:pt>
                <c:pt idx="7">
                  <c:v>5500</c:v>
                </c:pt>
                <c:pt idx="8">
                  <c:v>6500</c:v>
                </c:pt>
                <c:pt idx="9">
                  <c:v>7500</c:v>
                </c:pt>
                <c:pt idx="10">
                  <c:v>9000</c:v>
                </c:pt>
                <c:pt idx="11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5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5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7A756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6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Miami’s Private Event Marketplace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 |  March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 Chimion  &amp;  Frank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private event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Miami is broken.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54864" cy="96012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Peerspace (Market Leader)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2.6/5 stars (TrustPilot + Google). Terrible support.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venues 20% + guests 12-18%.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286000"/>
            <a:ext cx="54864" cy="96012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Giggster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670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Film/photo focused, not events.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commission. 962 Miami listings but wrong audience.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29000"/>
            <a:ext cx="54864" cy="96012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Planners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$2,000–$10,000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 find a space. Weeks, not hours.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42900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429000"/>
            <a:ext cx="54864" cy="96012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Yelp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research. No filters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type, budget, or guest count.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(VERIFIED)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is the #3 event market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North America.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606040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243834"/>
            <a:ext cx="196596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Visitors/year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(2024 record)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246888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2606040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51760" y="3243834"/>
            <a:ext cx="196596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 spending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into Miami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246888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606040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$40–80K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00600" y="3243834"/>
            <a:ext cx="196596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Miami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 budget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246888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606040"/>
            <a:ext cx="19659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49440" y="3243834"/>
            <a:ext cx="196596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venues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Miami-Dade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Miami-Dade Tourism Office, Grand View Research, Elev8, Wedding Report, The Knot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is hated. The rest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niche or absent from Miami.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280160"/>
                <a:gridCol w="82296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Miami Supply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Peerspace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+ 12-18%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Terrible support, refund issues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Giggster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Film/photo focused, not events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15,000+ global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Generic, no local curation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Miami presence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Splacer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 + 5%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5 US cities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A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VENUE (us)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A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5A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curated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5A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5A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brand yet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commission is the lowest in the market. Venues save 5–10% switching from Peerspace.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moats. Not just features.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1: Concierge 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just list venues. We match you with 2–3 curated options, coordinate introductions, and follow up. Peerspace is a search engine. VENUE is a personal assistant. Service quality is the hardest thing to copy.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2: Bilingual from Day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3580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of Miami speaks Spanish at home. All content, ads, and emails in English + Spanish. No competitor does this. Peerspace would need 6+ months to build equivalent. This is a sustainable head start.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3: Event-Type Guidance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873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wizard starts with “What’s the occasion?” — not “Where?” This reduces decision time from browsing 400 results to seeing 3 curated matches. We also show F&amp;B minimums with per-person tax+tip breakdown. No competitor does either.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Lowest commission in market (10–15% vs. Peerspace 20%). Pure economic incentive for venues.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generation machine.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2011680" cy="246888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Drive Traffic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+ Instagram ads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Miami event planners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2423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F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2011680" cy="246888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Captures 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picks event type,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guests, budget, vibe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691640"/>
            <a:ext cx="2011680" cy="246888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 Matches Venues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curated venues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amenities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2280" y="2423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1691640"/>
            <a:ext cx="2011680" cy="246888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Pays 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 commission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 placement fee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consumers. Always. Venues pay because we send them qualified leads.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(INDUSTRY BENCHMARKS)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numbers. Not guesses.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CPC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$0.77–$1.60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148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WordStream, SerpWars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551176"/>
            <a:ext cx="6126480" cy="402336"/>
          </a:xfrm>
          <a:prstGeom prst="rect">
            <a:avLst/>
          </a:prstGeom>
          <a:solidFill>
            <a:srgbClr val="FFF8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51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5511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$3.71–$30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551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Snowmad Digital, PPCChief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953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→ booking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953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953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Models Lab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6126480" cy="402336"/>
          </a:xfrm>
          <a:prstGeom prst="rect">
            <a:avLst/>
          </a:prstGeom>
          <a:solidFill>
            <a:srgbClr val="FF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Miami event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355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$3,000–$5,000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3558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Peerspace, Elev8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7581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commission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758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7581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range: 10–20%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0" y="2103120"/>
            <a:ext cx="2011680" cy="242316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Booking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$360–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5800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to 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3794760"/>
            <a:ext cx="13716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$24–$330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acquire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complete.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pages. Ready for ads.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booking wizard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 → location → preferences → results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real Miami venues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neighborhoods, real pricing + Google ratings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individual venue pages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optimized as a Google Ads landing page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neighborhood browse pages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Wynwood, Brickell, South Beach, Coral Gables, etc.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form → email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2267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go straight to Georg’s inbox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SEO ready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2064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PostHog + GA4 + sitemap + structured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domain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2064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with Frank — then deploy in &lt;24h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accounts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after domain decision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PROJECTIONS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by month 3–4.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60020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9164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126480" y="2057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spend: $22K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$25K
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12: $5K/mo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329184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3383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26480" y="36576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spend: $35K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$55K
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A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12: $15K/mo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96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1–4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463040" cy="32004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$0/mo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budget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$500–$1K/mo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10-20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requests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7772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896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06040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2–3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80360" y="2057400"/>
            <a:ext cx="1463040" cy="32004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$500–$2K/mo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budget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0604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$1K–$2K/mo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partners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7772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896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00600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3–6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074920" y="2057400"/>
            <a:ext cx="1463040" cy="32004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$2K–$5K/mo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budget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$2K–$5K/mo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partners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95160" y="77724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896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95160" y="1115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6–12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269480" y="2057400"/>
            <a:ext cx="1463040" cy="32004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$5K–$15K/mo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9516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budget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9516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$3K–$8K/mo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venues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multi-revenue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it and run it.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fund the growth.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93192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011680"/>
            <a:ext cx="3931920" cy="54864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 — Operator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 product from scratch (44 pages)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development + maintenance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campaigns: create + optimize + report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outreach + relationship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handling + concierge (15–20 hrs/week)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performance reports to Frank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2011680"/>
            <a:ext cx="393192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11680"/>
            <a:ext cx="3931920" cy="54864"/>
          </a:xfrm>
          <a:prstGeom prst="rect">
            <a:avLst/>
          </a:prstGeom>
          <a:solidFill>
            <a:srgbClr val="7A756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 — Investor &amp; Advisor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606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idea + market insight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all ad spend (scales with results)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operational costs ($7–$32/mo)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credibility for venue partnerships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Investor-facing role if we raise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hours/month, no manual work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first. Formalize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there’s money to split.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81381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88920"/>
                <a:gridCol w="2788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(ads + ops)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A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4–6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$2–$3K/mo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$9K–$12K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7–12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$3–$5K/mo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6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$27K–$42K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77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principle: </a:t>
            </a:r>
            <a:pPr indent="0" marL="0">
              <a:buNone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 builds and runs it. Frank funds the growth. We formalize equity when we hit $1,000/month — by then we’ll both know what each person contributed. If it doesn’t work after 3 months, we walk away. Max loss = ~$3,000.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KILL SWITCHES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could go wrong.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81381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66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don’t convert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206654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$500 yields &lt;10 leads: pivot to Instagram Ads. If all channels fail: shift to partnerships-first (direct outreach, $0 ads).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761488"/>
            <a:ext cx="81381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816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don’t pay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81635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free value (10+ free leads). Then propose $99/mo featured or 10–15% commission. If they decline: remove listing, move 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511296"/>
            <a:ext cx="81381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Peerspace copies 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5661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moats: bilingual content (6mo head start), venue relationships, concierge service. Even if features copied, switching cost is high.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261104"/>
            <a:ext cx="81381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315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Georg’s bandwidth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431596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hrs/week committed. Weekly check-ins with Frank. If VENUE hits $1K/mo, it becomes primary focus.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572000"/>
            <a:ext cx="8138160" cy="411480"/>
          </a:xfrm>
          <a:prstGeom prst="rect">
            <a:avLst/>
          </a:prstGeom>
          <a:solidFill>
            <a:srgbClr val="FFF8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SWITCH: If $1,500 spent yields &lt;15 leads by end of Month 2, we pause and reassess together. Max loss = ~$3,000.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decide together.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C05A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production URL (venuemiami.com?)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384048" cy="384048"/>
          </a:xfrm>
          <a:prstGeom prst="ellipse">
            <a:avLst/>
          </a:prstGeom>
          <a:solidFill>
            <a:srgbClr val="C05A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578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budget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7797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$500–$1,000 to 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384048" cy="384048"/>
          </a:xfrm>
          <a:prstGeom prst="ellipse">
            <a:avLst/>
          </a:prstGeom>
          <a:solidFill>
            <a:srgbClr val="C05A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45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145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terms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3467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it, fund it, split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384048" cy="384048"/>
          </a:xfrm>
          <a:prstGeom prst="ellipse">
            <a:avLst/>
          </a:prstGeom>
          <a:solidFill>
            <a:srgbClr val="C05A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712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accounts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136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Google + Instagram 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384048" cy="384048"/>
          </a:xfrm>
          <a:prstGeom prst="ellipse">
            <a:avLst/>
          </a:prstGeom>
          <a:solidFill>
            <a:srgbClr val="C05A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4805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week — we can be live in 7 days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5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built.
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is ready.
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C0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need to turn it 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 |  Georg &amp; Frank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VENUE - Business Plan</dc:title>
  <dc:subject>PptxGenJS Presentation</dc:subject>
  <dc:creator>Georg Chimion</dc:creator>
  <cp:lastModifiedBy>Georg Chimion</cp:lastModifiedBy>
  <cp:revision>1</cp:revision>
  <dcterms:created xsi:type="dcterms:W3CDTF">2026-03-18T17:44:02Z</dcterms:created>
  <dcterms:modified xsi:type="dcterms:W3CDTF">2026-03-18T17:44:02Z</dcterms:modified>
</cp:coreProperties>
</file>